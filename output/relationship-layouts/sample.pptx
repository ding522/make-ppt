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Consolas"/>
                <a:ea typeface="Consolas"/>
              </a:rPr>
              <a:t>// 01</a:t>
            </a:r>
            <a:r>
              <a:rPr sz="1200" b="0" i="0">
                <a:solidFill>
                  <a:srgbClr val="D75F00"/>
                </a:solidFill>
                <a:latin typeface="Consolas"/>
                <a:ea typeface="Consolas"/>
              </a:rPr>
              <a:t>    版型示範 · 參考圖內容節錄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i="0">
                <a:solidFill>
                  <a:srgbClr val="1A1714"/>
                </a:solidFill>
                <a:latin typeface="Noto Sans TC"/>
                <a:ea typeface="Noto Sans TC"/>
              </a:rPr>
              <a:t>到職九個月</a:t>
            </a:r>
            <a:r>
              <a:rPr sz="2800" b="1" i="0">
                <a:solidFill>
                  <a:srgbClr val="D75F00"/>
                </a:solidFill>
                <a:latin typeface="Noto Sans TC"/>
                <a:ea typeface="Noto Sans TC"/>
              </a:rPr>
              <a:t>：三條主線接力推進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44168"/>
            <a:ext cx="110578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 i="0">
                <a:solidFill>
                  <a:srgbClr val="8A8177"/>
                </a:solidFill>
                <a:latin typeface="Noto Sans TC"/>
                <a:ea typeface="Noto Sans TC"/>
              </a:rPr>
              <a:t>共用時間軸呈現工作期間；分開的色帶保留實際間隔。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783080"/>
            <a:ext cx="11057839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201168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3972DA"/>
                </a:solidFill>
                <a:latin typeface="Noto Sans TC"/>
                <a:ea typeface="Noto Sans TC"/>
              </a:rPr>
              <a:t>暖心陪伴系統 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340864"/>
            <a:ext cx="4982103" cy="182880"/>
          </a:xfrm>
          <a:prstGeom prst="rect">
            <a:avLst/>
          </a:prstGeom>
          <a:solidFill>
            <a:srgbClr val="397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596896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A8177"/>
                </a:solidFill>
                <a:latin typeface="Noto Sans TC"/>
                <a:ea typeface="Noto Sans TC"/>
              </a:rPr>
              <a:t>Reminder 後端 / Cloud SQL · SOS · FCM 解耦重構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98704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D75F00"/>
                </a:solidFill>
                <a:latin typeface="Noto Sans TC"/>
                <a:ea typeface="Noto Sans TC"/>
              </a:rPr>
              <a:t>AI 架構師助手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9031" y="3316224"/>
            <a:ext cx="1134137" cy="182880"/>
          </a:xfrm>
          <a:prstGeom prst="rect">
            <a:avLst/>
          </a:prstGeom>
          <a:solidFill>
            <a:srgbClr val="D75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409620" y="3316224"/>
            <a:ext cx="1215147" cy="182880"/>
          </a:xfrm>
          <a:prstGeom prst="rect">
            <a:avLst/>
          </a:prstGeom>
          <a:solidFill>
            <a:srgbClr val="D75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72256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A8177"/>
                </a:solidFill>
                <a:latin typeface="Noto Sans TC"/>
                <a:ea typeface="Noto Sans TC"/>
              </a:rPr>
              <a:t>model 選型 / 產圖 pipeline · Data Lake DNS 修復 · Fortify 190 → 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96240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3E8E5A"/>
                </a:solidFill>
                <a:latin typeface="Noto Sans TC"/>
                <a:ea typeface="Noto Sans TC"/>
              </a:rPr>
              <a:t>雲端處 ITSM 平台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38821" y="4291584"/>
            <a:ext cx="3685946" cy="182880"/>
          </a:xfrm>
          <a:prstGeom prst="rect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547616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A8177"/>
                </a:solidFill>
                <a:latin typeface="Noto Sans TC"/>
                <a:ea typeface="Noto Sans TC"/>
              </a:rPr>
              <a:t>資訊系統 / 機房 schema · BCM 戰情室 / VM 納管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6928" y="5102352"/>
            <a:ext cx="11057839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66928" y="517550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A8177"/>
                </a:solidFill>
                <a:latin typeface="Consolas"/>
                <a:ea typeface="Consolas"/>
              </a:rPr>
              <a:t>2025/10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2540" y="517550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A8177"/>
                </a:solidFill>
                <a:latin typeface="Consolas"/>
                <a:ea typeface="Consolas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17687" y="517550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A8177"/>
                </a:solidFill>
                <a:latin typeface="Consolas"/>
                <a:ea typeface="Consolas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3339" y="517550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A8177"/>
                </a:solidFill>
                <a:latin typeface="Consolas"/>
                <a:ea typeface="Consolas"/>
              </a:rPr>
              <a:t>2026/01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8991" y="517550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A8177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3129" y="517550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A8177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8781" y="517550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A8177"/>
                </a:solidFill>
                <a:latin typeface="Consolas"/>
                <a:ea typeface="Consola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33928" y="517550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A8177"/>
                </a:solidFill>
                <a:latin typeface="Consolas"/>
                <a:ea typeface="Consola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89580" y="517550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A8177"/>
                </a:solidFill>
                <a:latin typeface="Consolas"/>
                <a:ea typeface="Consolas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47527" y="517550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A8177"/>
                </a:solidFill>
                <a:latin typeface="Consolas"/>
                <a:ea typeface="Consolas"/>
              </a:rPr>
              <a:t>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Consolas"/>
                <a:ea typeface="Consolas"/>
              </a:rPr>
              <a:t>// 02</a:t>
            </a:r>
            <a:r>
              <a:rPr sz="1200" b="0" i="0">
                <a:solidFill>
                  <a:srgbClr val="D75F00"/>
                </a:solidFill>
                <a:latin typeface="Consolas"/>
                <a:ea typeface="Consolas"/>
              </a:rPr>
              <a:t>    版型示範 · 參考圖內容節錄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i="0">
                <a:solidFill>
                  <a:srgbClr val="1A1714"/>
                </a:solidFill>
                <a:latin typeface="Noto Sans TC"/>
                <a:ea typeface="Noto Sans TC"/>
              </a:rPr>
              <a:t>十項能力 × 五條專案線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44168"/>
            <a:ext cx="110578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 i="0">
                <a:solidFill>
                  <a:srgbClr val="8A8177"/>
                </a:solidFill>
                <a:latin typeface="Noto Sans TC"/>
                <a:ea typeface="Noto Sans TC"/>
              </a:rPr>
              <a:t>左側色條：藍＝功能層、橘＝系統層、綠＝複用層；格內符號見下方圖例。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783080"/>
            <a:ext cx="11057839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938528"/>
          <a:ext cx="11057839" cy="3959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2803"/>
                <a:gridCol w="1664044"/>
                <a:gridCol w="1395650"/>
                <a:gridCol w="1395650"/>
                <a:gridCol w="1664044"/>
                <a:gridCol w="1395648"/>
              </a:tblGrid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5F2EC"/>
                          </a:solidFill>
                          <a:latin typeface="Noto Sans TC"/>
                          <a:ea typeface="Noto Sans TC"/>
                        </a:rPr>
                        <a:t>能力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1A17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5F2EC"/>
                          </a:solidFill>
                          <a:latin typeface="Noto Sans TC"/>
                          <a:ea typeface="Noto Sans TC"/>
                        </a:rPr>
                        <a:t>平安守護鈴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1A17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5F2EC"/>
                          </a:solidFill>
                          <a:latin typeface="Noto Sans TC"/>
                          <a:ea typeface="Noto Sans TC"/>
                        </a:rPr>
                        <a:t>日日好生活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1A17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5F2EC"/>
                          </a:solidFill>
                          <a:latin typeface="Noto Sans TC"/>
                          <a:ea typeface="Noto Sans TC"/>
                        </a:rPr>
                        <a:t>FCM 推播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1A17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5F2EC"/>
                          </a:solidFill>
                          <a:latin typeface="Noto Sans TC"/>
                          <a:ea typeface="Noto Sans TC"/>
                        </a:rPr>
                        <a:t>AI 架構師助手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1A17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5F2EC"/>
                          </a:solidFill>
                          <a:latin typeface="Noto Sans TC"/>
                          <a:ea typeface="Noto Sans TC"/>
                        </a:rPr>
                        <a:t>ITSM 平台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1A1714"/>
                    </a:solidFill>
                  </a:tcPr>
                </a:tc>
              </a:tr>
              <a:tr h="34838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A443D"/>
                          </a:solidFill>
                          <a:latin typeface="Noto Sans TC"/>
                          <a:ea typeface="Noto Sans TC"/>
                        </a:rPr>
                        <a:t>S1 行動端 App 開發（Flutter）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D75F00"/>
                          </a:solidFill>
                          <a:latin typeface="Noto Sans TC"/>
                          <a:ea typeface="Noto Sans TC"/>
                        </a:rPr>
                        <a:t>●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D75F00"/>
                          </a:solidFill>
                          <a:latin typeface="Noto Sans TC"/>
                          <a:ea typeface="Noto Sans TC"/>
                        </a:rPr>
                        <a:t>●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D75F00"/>
                          </a:solidFill>
                          <a:latin typeface="Noto Sans TC"/>
                          <a:ea typeface="Noto Sans TC"/>
                        </a:rPr>
                        <a:t>●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DED8CE"/>
                          </a:solidFill>
                          <a:latin typeface="Noto Sans TC"/>
                          <a:ea typeface="Noto Sans TC"/>
                        </a:rPr>
                        <a:t>·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DED8CE"/>
                          </a:solidFill>
                          <a:latin typeface="Noto Sans TC"/>
                          <a:ea typeface="Noto Sans TC"/>
                        </a:rPr>
                        <a:t>·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</a:tr>
              <a:tr h="34838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A443D"/>
                          </a:solidFill>
                          <a:latin typeface="Noto Sans TC"/>
                          <a:ea typeface="Noto Sans TC"/>
                        </a:rPr>
                        <a:t>S2 後端服務與全端交付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D75F00"/>
                          </a:solidFill>
                          <a:latin typeface="Noto Sans TC"/>
                          <a:ea typeface="Noto Sans TC"/>
                        </a:rPr>
                        <a:t>●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D75F00"/>
                          </a:solidFill>
                          <a:latin typeface="Noto Sans TC"/>
                          <a:ea typeface="Noto Sans TC"/>
                        </a:rPr>
                        <a:t>●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D75F00"/>
                          </a:solidFill>
                          <a:latin typeface="Noto Sans TC"/>
                          <a:ea typeface="Noto Sans TC"/>
                        </a:rPr>
                        <a:t>●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8A8177"/>
                          </a:solidFill>
                          <a:latin typeface="Noto Sans TC"/>
                          <a:ea typeface="Noto Sans TC"/>
                        </a:rPr>
                        <a:t>○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D75F00"/>
                          </a:solidFill>
                          <a:latin typeface="Noto Sans TC"/>
                          <a:ea typeface="Noto Sans TC"/>
                        </a:rPr>
                        <a:t>●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</a:tr>
              <a:tr h="34838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A443D"/>
                          </a:solidFill>
                          <a:latin typeface="Noto Sans TC"/>
                          <a:ea typeface="Noto Sans TC"/>
                        </a:rPr>
                        <a:t>S3 正確性與效能工程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D75F00"/>
                          </a:solidFill>
                          <a:latin typeface="Noto Sans TC"/>
                          <a:ea typeface="Noto Sans TC"/>
                        </a:rPr>
                        <a:t>●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D75F00"/>
                          </a:solidFill>
                          <a:latin typeface="Noto Sans TC"/>
                          <a:ea typeface="Noto Sans TC"/>
                        </a:rPr>
                        <a:t>●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D75F00"/>
                          </a:solidFill>
                          <a:latin typeface="Noto Sans TC"/>
                          <a:ea typeface="Noto Sans TC"/>
                        </a:rPr>
                        <a:t>●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D75F00"/>
                          </a:solidFill>
                          <a:latin typeface="Noto Sans TC"/>
                          <a:ea typeface="Noto Sans TC"/>
                        </a:rPr>
                        <a:t>●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D75F00"/>
                          </a:solidFill>
                          <a:latin typeface="Noto Sans TC"/>
                          <a:ea typeface="Noto Sans TC"/>
                        </a:rPr>
                        <a:t>●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</a:tr>
              <a:tr h="34838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A443D"/>
                          </a:solidFill>
                          <a:latin typeface="Noto Sans TC"/>
                          <a:ea typeface="Noto Sans TC"/>
                        </a:rPr>
                        <a:t>S4 資料建模與資料庫架構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DED8CE"/>
                          </a:solidFill>
                          <a:latin typeface="Noto Sans TC"/>
                          <a:ea typeface="Noto Sans TC"/>
                        </a:rPr>
                        <a:t>·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D75F00"/>
                          </a:solidFill>
                          <a:latin typeface="Noto Sans TC"/>
                          <a:ea typeface="Noto Sans TC"/>
                        </a:rPr>
                        <a:t>●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D75F00"/>
                          </a:solidFill>
                          <a:latin typeface="Noto Sans TC"/>
                          <a:ea typeface="Noto Sans TC"/>
                        </a:rPr>
                        <a:t>●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8A8177"/>
                          </a:solidFill>
                          <a:latin typeface="Noto Sans TC"/>
                          <a:ea typeface="Noto Sans TC"/>
                        </a:rPr>
                        <a:t>○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D75F00"/>
                          </a:solidFill>
                          <a:latin typeface="Noto Sans TC"/>
                          <a:ea typeface="Noto Sans TC"/>
                        </a:rPr>
                        <a:t>●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</a:tr>
              <a:tr h="34838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A443D"/>
                          </a:solidFill>
                          <a:latin typeface="Noto Sans TC"/>
                          <a:ea typeface="Noto Sans TC"/>
                        </a:rPr>
                        <a:t>S5 資料治理與 ETL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DED8CE"/>
                          </a:solidFill>
                          <a:latin typeface="Noto Sans TC"/>
                          <a:ea typeface="Noto Sans TC"/>
                        </a:rPr>
                        <a:t>·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DED8CE"/>
                          </a:solidFill>
                          <a:latin typeface="Noto Sans TC"/>
                          <a:ea typeface="Noto Sans TC"/>
                        </a:rPr>
                        <a:t>·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DED8CE"/>
                          </a:solidFill>
                          <a:latin typeface="Noto Sans TC"/>
                          <a:ea typeface="Noto Sans TC"/>
                        </a:rPr>
                        <a:t>·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DED8CE"/>
                          </a:solidFill>
                          <a:latin typeface="Noto Sans TC"/>
                          <a:ea typeface="Noto Sans TC"/>
                        </a:rPr>
                        <a:t>·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D75F00"/>
                          </a:solidFill>
                          <a:latin typeface="Noto Sans TC"/>
                          <a:ea typeface="Noto Sans TC"/>
                        </a:rPr>
                        <a:t>●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</a:tr>
              <a:tr h="34838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A443D"/>
                          </a:solidFill>
                          <a:latin typeface="Noto Sans TC"/>
                          <a:ea typeface="Noto Sans TC"/>
                        </a:rPr>
                        <a:t>S6 雲端與微服務架構取捨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D75F00"/>
                          </a:solidFill>
                          <a:latin typeface="Noto Sans TC"/>
                          <a:ea typeface="Noto Sans TC"/>
                        </a:rPr>
                        <a:t>●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8A8177"/>
                          </a:solidFill>
                          <a:latin typeface="Noto Sans TC"/>
                          <a:ea typeface="Noto Sans TC"/>
                        </a:rPr>
                        <a:t>○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D75F00"/>
                          </a:solidFill>
                          <a:latin typeface="Noto Sans TC"/>
                          <a:ea typeface="Noto Sans TC"/>
                        </a:rPr>
                        <a:t>●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D75F00"/>
                          </a:solidFill>
                          <a:latin typeface="Noto Sans TC"/>
                          <a:ea typeface="Noto Sans TC"/>
                        </a:rPr>
                        <a:t>●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8A8177"/>
                          </a:solidFill>
                          <a:latin typeface="Noto Sans TC"/>
                          <a:ea typeface="Noto Sans TC"/>
                        </a:rPr>
                        <a:t>○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</a:tr>
              <a:tr h="34838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A443D"/>
                          </a:solidFill>
                          <a:latin typeface="Noto Sans TC"/>
                          <a:ea typeface="Noto Sans TC"/>
                        </a:rPr>
                        <a:t>S7 資安合規落地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D75F00"/>
                          </a:solidFill>
                          <a:latin typeface="Noto Sans TC"/>
                          <a:ea typeface="Noto Sans TC"/>
                        </a:rPr>
                        <a:t>●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DED8CE"/>
                          </a:solidFill>
                          <a:latin typeface="Noto Sans TC"/>
                          <a:ea typeface="Noto Sans TC"/>
                        </a:rPr>
                        <a:t>·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DED8CE"/>
                          </a:solidFill>
                          <a:latin typeface="Noto Sans TC"/>
                          <a:ea typeface="Noto Sans TC"/>
                        </a:rPr>
                        <a:t>·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D75F00"/>
                          </a:solidFill>
                          <a:latin typeface="Noto Sans TC"/>
                          <a:ea typeface="Noto Sans TC"/>
                        </a:rPr>
                        <a:t>●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D75F00"/>
                          </a:solidFill>
                          <a:latin typeface="Noto Sans TC"/>
                          <a:ea typeface="Noto Sans TC"/>
                        </a:rPr>
                        <a:t>●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</a:tr>
              <a:tr h="34838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A443D"/>
                          </a:solidFill>
                          <a:latin typeface="Noto Sans TC"/>
                          <a:ea typeface="Noto Sans TC"/>
                        </a:rPr>
                        <a:t>S8 流程設計與平台化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DED8CE"/>
                          </a:solidFill>
                          <a:latin typeface="Noto Sans TC"/>
                          <a:ea typeface="Noto Sans TC"/>
                        </a:rPr>
                        <a:t>·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DED8CE"/>
                          </a:solidFill>
                          <a:latin typeface="Noto Sans TC"/>
                          <a:ea typeface="Noto Sans TC"/>
                        </a:rPr>
                        <a:t>·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DED8CE"/>
                          </a:solidFill>
                          <a:latin typeface="Noto Sans TC"/>
                          <a:ea typeface="Noto Sans TC"/>
                        </a:rPr>
                        <a:t>·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8A8177"/>
                          </a:solidFill>
                          <a:latin typeface="Noto Sans TC"/>
                          <a:ea typeface="Noto Sans TC"/>
                        </a:rPr>
                        <a:t>○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D75F00"/>
                          </a:solidFill>
                          <a:latin typeface="Noto Sans TC"/>
                          <a:ea typeface="Noto Sans TC"/>
                        </a:rPr>
                        <a:t>●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</a:tr>
              <a:tr h="34838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A443D"/>
                          </a:solidFill>
                          <a:latin typeface="Noto Sans TC"/>
                          <a:ea typeface="Noto Sans TC"/>
                        </a:rPr>
                        <a:t>S9 AI 應用開發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DED8CE"/>
                          </a:solidFill>
                          <a:latin typeface="Noto Sans TC"/>
                          <a:ea typeface="Noto Sans TC"/>
                        </a:rPr>
                        <a:t>·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DED8CE"/>
                          </a:solidFill>
                          <a:latin typeface="Noto Sans TC"/>
                          <a:ea typeface="Noto Sans TC"/>
                        </a:rPr>
                        <a:t>·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DED8CE"/>
                          </a:solidFill>
                          <a:latin typeface="Noto Sans TC"/>
                          <a:ea typeface="Noto Sans TC"/>
                        </a:rPr>
                        <a:t>·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D75F00"/>
                          </a:solidFill>
                          <a:latin typeface="Noto Sans TC"/>
                          <a:ea typeface="Noto Sans TC"/>
                        </a:rPr>
                        <a:t>●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DED8CE"/>
                          </a:solidFill>
                          <a:latin typeface="Noto Sans TC"/>
                          <a:ea typeface="Noto Sans TC"/>
                        </a:rPr>
                        <a:t>·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</a:tr>
              <a:tr h="34839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A443D"/>
                          </a:solidFill>
                          <a:latin typeface="Noto Sans TC"/>
                          <a:ea typeface="Noto Sans TC"/>
                        </a:rPr>
                        <a:t>S10 用 AI 改工作流程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DED8CE"/>
                          </a:solidFill>
                          <a:latin typeface="Noto Sans TC"/>
                          <a:ea typeface="Noto Sans TC"/>
                        </a:rPr>
                        <a:t>·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DED8CE"/>
                          </a:solidFill>
                          <a:latin typeface="Noto Sans TC"/>
                          <a:ea typeface="Noto Sans TC"/>
                        </a:rPr>
                        <a:t>·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DED8CE"/>
                          </a:solidFill>
                          <a:latin typeface="Noto Sans TC"/>
                          <a:ea typeface="Noto Sans TC"/>
                        </a:rPr>
                        <a:t>·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D75F00"/>
                          </a:solidFill>
                          <a:latin typeface="Noto Sans TC"/>
                          <a:ea typeface="Noto Sans TC"/>
                        </a:rPr>
                        <a:t>●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D75F00"/>
                          </a:solidFill>
                          <a:latin typeface="Noto Sans TC"/>
                          <a:ea typeface="Noto Sans TC"/>
                        </a:rPr>
                        <a:t>●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FFFFE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98348" y="2414016"/>
            <a:ext cx="68580" cy="696772"/>
          </a:xfrm>
          <a:prstGeom prst="rect">
            <a:avLst/>
          </a:prstGeom>
          <a:solidFill>
            <a:srgbClr val="397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98348" y="3110788"/>
            <a:ext cx="68580" cy="1741930"/>
          </a:xfrm>
          <a:prstGeom prst="rect">
            <a:avLst/>
          </a:prstGeom>
          <a:solidFill>
            <a:srgbClr val="D75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8348" y="4852718"/>
            <a:ext cx="68580" cy="1045162"/>
          </a:xfrm>
          <a:prstGeom prst="rect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5971032"/>
            <a:ext cx="110578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D75F00"/>
                </a:solidFill>
                <a:latin typeface="Noto Sans TC"/>
                <a:ea typeface="Noto Sans TC"/>
              </a:rPr>
              <a:t>● </a:t>
            </a:r>
            <a:r>
              <a:rPr sz="1400" b="0" i="0">
                <a:solidFill>
                  <a:srgbClr val="1A1714"/>
                </a:solidFill>
                <a:latin typeface="Noto Sans TC"/>
                <a:ea typeface="Noto Sans TC"/>
              </a:rPr>
              <a:t>深度投入    </a:t>
            </a:r>
            <a:r>
              <a:rPr sz="1400" b="0" i="0">
                <a:solidFill>
                  <a:srgbClr val="8A8177"/>
                </a:solidFill>
                <a:latin typeface="Noto Sans TC"/>
                <a:ea typeface="Noto Sans TC"/>
              </a:rPr>
              <a:t>○ </a:t>
            </a:r>
            <a:r>
              <a:rPr sz="1400" b="0" i="0">
                <a:solidFill>
                  <a:srgbClr val="1A1714"/>
                </a:solidFill>
                <a:latin typeface="Noto Sans TC"/>
                <a:ea typeface="Noto Sans TC"/>
              </a:rPr>
              <a:t>有參與    </a:t>
            </a:r>
            <a:r>
              <a:rPr sz="1400" b="0" i="0">
                <a:solidFill>
                  <a:srgbClr val="DED8CE"/>
                </a:solidFill>
                <a:latin typeface="Noto Sans TC"/>
                <a:ea typeface="Noto Sans TC"/>
              </a:rPr>
              <a:t>· </a:t>
            </a:r>
            <a:r>
              <a:rPr sz="1400" b="0" i="0">
                <a:solidFill>
                  <a:srgbClr val="1A1714"/>
                </a:solidFill>
                <a:latin typeface="Noto Sans TC"/>
                <a:ea typeface="Noto Sans TC"/>
              </a:rPr>
              <a:t>參考圖未標示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Consolas"/>
                <a:ea typeface="Consolas"/>
              </a:rPr>
              <a:t>// 03</a:t>
            </a:r>
            <a:r>
              <a:rPr sz="1200" b="0" i="0">
                <a:solidFill>
                  <a:srgbClr val="D75F00"/>
                </a:solidFill>
                <a:latin typeface="Consolas"/>
                <a:ea typeface="Consolas"/>
              </a:rPr>
              <a:t>    版型示範 · 參考圖內容節錄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i="0">
                <a:solidFill>
                  <a:srgbClr val="1A1714"/>
                </a:solidFill>
                <a:latin typeface="Noto Sans TC"/>
                <a:ea typeface="Noto Sans TC"/>
              </a:rPr>
              <a:t>十項能力分屬三層</a:t>
            </a:r>
            <a:r>
              <a:rPr sz="2800" b="1" i="0">
                <a:solidFill>
                  <a:srgbClr val="D75F00"/>
                </a:solidFill>
                <a:latin typeface="Noto Sans TC"/>
                <a:ea typeface="Noto Sans TC"/>
              </a:rPr>
              <a:t>：功能層 / 系統層 / 複用層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44168"/>
            <a:ext cx="110578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 i="0">
                <a:solidFill>
                  <a:srgbClr val="8A8177"/>
                </a:solidFill>
                <a:latin typeface="Noto Sans TC"/>
                <a:ea typeface="Noto Sans TC"/>
              </a:rPr>
              <a:t>各層以色條分組，能力名稱與主要證據左右對照。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783080"/>
            <a:ext cx="11057839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66928" y="1938528"/>
            <a:ext cx="68580" cy="934517"/>
          </a:xfrm>
          <a:prstGeom prst="rect">
            <a:avLst/>
          </a:prstGeom>
          <a:solidFill>
            <a:srgbClr val="397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38528"/>
            <a:ext cx="108749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3972DA"/>
                </a:solidFill>
                <a:latin typeface="Noto Sans TC"/>
                <a:ea typeface="Noto Sans TC"/>
              </a:rPr>
              <a:t>層一 · 功能層</a:t>
            </a:r>
            <a:r>
              <a:rPr sz="1400" b="0" i="0">
                <a:solidFill>
                  <a:srgbClr val="8A8177"/>
                </a:solidFill>
                <a:latin typeface="Noto Sans TC"/>
                <a:ea typeface="Noto Sans TC"/>
              </a:rPr>
              <a:t>  — 把一條功能完整做出來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258568"/>
            <a:ext cx="5826630" cy="3072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A1714"/>
                </a:solidFill>
                <a:latin typeface="Noto Sans TC"/>
                <a:ea typeface="Noto Sans TC"/>
              </a:rPr>
              <a:t>S1 行動端 App 開發（Flutter）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59318" y="2258568"/>
            <a:ext cx="4865449" cy="3072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A8177"/>
                </a:solidFill>
                <a:latin typeface="Noto Sans TC"/>
                <a:ea typeface="Noto Sans TC"/>
              </a:rPr>
              <a:t>日日好生活、平安守護鈴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565806"/>
            <a:ext cx="5826630" cy="3072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A1714"/>
                </a:solidFill>
                <a:latin typeface="Noto Sans TC"/>
                <a:ea typeface="Noto Sans TC"/>
              </a:rPr>
              <a:t>S2 後端服務與全端交付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59318" y="2565806"/>
            <a:ext cx="4865449" cy="3072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A8177"/>
                </a:solidFill>
                <a:latin typeface="Noto Sans TC"/>
                <a:ea typeface="Noto Sans TC"/>
              </a:rPr>
              <a:t>sectest · BCM · reminder / notification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8" y="2927909"/>
            <a:ext cx="11057839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6928" y="2982773"/>
            <a:ext cx="68580" cy="1856232"/>
          </a:xfrm>
          <a:prstGeom prst="rect">
            <a:avLst/>
          </a:prstGeom>
          <a:solidFill>
            <a:srgbClr val="D75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982773"/>
            <a:ext cx="108749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D75F00"/>
                </a:solidFill>
                <a:latin typeface="Noto Sans TC"/>
                <a:ea typeface="Noto Sans TC"/>
              </a:rPr>
              <a:t>層二 · 系統層</a:t>
            </a:r>
            <a:r>
              <a:rPr sz="1400" b="0" i="0">
                <a:solidFill>
                  <a:srgbClr val="8A8177"/>
                </a:solidFill>
                <a:latin typeface="Noto Sans TC"/>
                <a:ea typeface="Noto Sans TC"/>
              </a:rPr>
              <a:t>  — 讓系統正確、可維護、安全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302813"/>
            <a:ext cx="5826630" cy="3072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A1714"/>
                </a:solidFill>
                <a:latin typeface="Noto Sans TC"/>
                <a:ea typeface="Noto Sans TC"/>
              </a:rPr>
              <a:t>S3 正確性與效能工程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9318" y="3302813"/>
            <a:ext cx="4865449" cy="3072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A8177"/>
                </a:solidFill>
                <a:latin typeface="Noto Sans TC"/>
                <a:ea typeface="Noto Sans TC"/>
              </a:rPr>
              <a:t>reminder · FCM · 設備清單 · 架構師助手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610051"/>
            <a:ext cx="5826630" cy="3072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A1714"/>
                </a:solidFill>
                <a:latin typeface="Noto Sans TC"/>
                <a:ea typeface="Noto Sans TC"/>
              </a:rPr>
              <a:t>S4 資料建模與資料庫架構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59318" y="3610051"/>
            <a:ext cx="4865449" cy="3072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A8177"/>
                </a:solidFill>
                <a:latin typeface="Noto Sans TC"/>
                <a:ea typeface="Noto Sans TC"/>
              </a:rPr>
              <a:t>15 schema / 78 表 · BCM 4 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3917290"/>
            <a:ext cx="5826630" cy="3072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A1714"/>
                </a:solidFill>
                <a:latin typeface="Noto Sans TC"/>
                <a:ea typeface="Noto Sans TC"/>
              </a:rPr>
              <a:t>S5 資料治理與 ETL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9318" y="3917290"/>
            <a:ext cx="4865449" cy="3072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A8177"/>
                </a:solidFill>
                <a:latin typeface="Noto Sans TC"/>
                <a:ea typeface="Noto Sans TC"/>
              </a:rPr>
              <a:t>DeviceInfo · ICTINV · LDAP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4224528"/>
            <a:ext cx="5826630" cy="3072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A1714"/>
                </a:solidFill>
                <a:latin typeface="Noto Sans TC"/>
                <a:ea typeface="Noto Sans TC"/>
              </a:rPr>
              <a:t>S6 雲端與微服務架構取捨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59318" y="4224528"/>
            <a:ext cx="4865449" cy="3072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A8177"/>
                </a:solidFill>
                <a:latin typeface="Noto Sans TC"/>
                <a:ea typeface="Noto Sans TC"/>
              </a:rPr>
              <a:t>SOS 三層前濾 · 推播解耦 · Data Lake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4531766"/>
            <a:ext cx="5826630" cy="3072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A1714"/>
                </a:solidFill>
                <a:latin typeface="Noto Sans TC"/>
                <a:ea typeface="Noto Sans TC"/>
              </a:rPr>
              <a:t>S7 資安合規落地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59318" y="4531766"/>
            <a:ext cx="4865449" cy="3072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A8177"/>
                </a:solidFill>
                <a:latin typeface="Noto Sans TC"/>
                <a:ea typeface="Noto Sans TC"/>
              </a:rPr>
              <a:t>模型選型 · bcrypt / EasyAuth · RBAC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6928" y="4893869"/>
            <a:ext cx="11057839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66928" y="4948733"/>
            <a:ext cx="68580" cy="1241755"/>
          </a:xfrm>
          <a:prstGeom prst="rect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948733"/>
            <a:ext cx="108749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3E8E5A"/>
                </a:solidFill>
                <a:latin typeface="Noto Sans TC"/>
                <a:ea typeface="Noto Sans TC"/>
              </a:rPr>
              <a:t>層三 · 複用層</a:t>
            </a:r>
            <a:r>
              <a:rPr sz="1400" b="0" i="0">
                <a:solidFill>
                  <a:srgbClr val="8A8177"/>
                </a:solidFill>
                <a:latin typeface="Noto Sans TC"/>
                <a:ea typeface="Noto Sans TC"/>
              </a:rPr>
              <a:t>  — 讓做法能被重複使用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5268773"/>
            <a:ext cx="5826630" cy="3072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A1714"/>
                </a:solidFill>
                <a:latin typeface="Noto Sans TC"/>
                <a:ea typeface="Noto Sans TC"/>
              </a:rPr>
              <a:t>S8 流程設計與平台化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59318" y="5268773"/>
            <a:ext cx="4865449" cy="3072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A8177"/>
                </a:solidFill>
                <a:latin typeface="Noto Sans TC"/>
                <a:ea typeface="Noto Sans TC"/>
              </a:rPr>
              <a:t>BCM 檢核流程 · 黑／灰箱複用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5576011"/>
            <a:ext cx="5826630" cy="3072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A1714"/>
                </a:solidFill>
                <a:latin typeface="Noto Sans TC"/>
                <a:ea typeface="Noto Sans TC"/>
              </a:rPr>
              <a:t>S9 AI 應用開發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59318" y="5576011"/>
            <a:ext cx="4865449" cy="3072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A8177"/>
                </a:solidFill>
                <a:latin typeface="Noto Sans TC"/>
                <a:ea typeface="Noto Sans TC"/>
              </a:rPr>
              <a:t>AI 架構師助手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5883250"/>
            <a:ext cx="5826630" cy="3072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A1714"/>
                </a:solidFill>
                <a:latin typeface="Noto Sans TC"/>
                <a:ea typeface="Noto Sans TC"/>
              </a:rPr>
              <a:t>S10 用 AI 改工作流程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59318" y="5883250"/>
            <a:ext cx="4865449" cy="3072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A8177"/>
                </a:solidFill>
                <a:latin typeface="Noto Sans TC"/>
                <a:ea typeface="Noto Sans TC"/>
              </a:rPr>
              <a:t>SDD · Fortify 迴圈 · 文件流水線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Consolas"/>
                <a:ea typeface="Consolas"/>
              </a:rPr>
              <a:t>// 04</a:t>
            </a:r>
            <a:r>
              <a:rPr sz="1200" b="0" i="0">
                <a:solidFill>
                  <a:srgbClr val="D75F00"/>
                </a:solidFill>
                <a:latin typeface="Consolas"/>
                <a:ea typeface="Consolas"/>
              </a:rPr>
              <a:t>    版型示範 · 參考圖內容節錄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i="0">
                <a:solidFill>
                  <a:srgbClr val="1A1714"/>
                </a:solidFill>
                <a:latin typeface="Noto Sans TC"/>
                <a:ea typeface="Noto Sans TC"/>
              </a:rPr>
              <a:t>一般文字表格仍保留完整說明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44168"/>
            <a:ext cx="110578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 i="0">
                <a:solidFill>
                  <a:srgbClr val="8A8177"/>
                </a:solidFill>
                <a:latin typeface="Noto Sans TC"/>
                <a:ea typeface="Noto Sans TC"/>
              </a:rPr>
              <a:t>這頁比較版型用途，使用原有標準表格即可。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783080"/>
            <a:ext cx="11057839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103120"/>
          <a:ext cx="1105783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4460"/>
                <a:gridCol w="8293379"/>
              </a:tblGrid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5F2EC"/>
                          </a:solidFill>
                          <a:latin typeface="Noto Sans TC"/>
                          <a:ea typeface="Noto Sans TC"/>
                        </a:rPr>
                        <a:t>呈現方式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1A17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5F2EC"/>
                          </a:solidFill>
                          <a:latin typeface="Noto Sans TC"/>
                          <a:ea typeface="Noto Sans TC"/>
                        </a:rPr>
                        <a:t>適用內容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1A1714"/>
                    </a:solidFill>
                  </a:tcPr>
                </a:tc>
              </a:tr>
              <a:tr h="63398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A443D"/>
                          </a:solidFill>
                          <a:latin typeface="Noto Sans TC"/>
                          <a:ea typeface="Noto Sans TC"/>
                        </a:rPr>
                        <a:t>多軌時間帶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A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A443D"/>
                          </a:solidFill>
                          <a:latin typeface="Noto Sans TC"/>
                          <a:ea typeface="Noto Sans TC"/>
                        </a:rPr>
                        <a:t>專案期間、重疊與接續關係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AF8F4"/>
                    </a:solidFill>
                  </a:tcPr>
                </a:tc>
              </a:tr>
              <a:tr h="63398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A443D"/>
                          </a:solidFill>
                          <a:latin typeface="Noto Sans TC"/>
                          <a:ea typeface="Noto Sans TC"/>
                        </a:rPr>
                        <a:t>狀態矩陣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A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A443D"/>
                          </a:solidFill>
                          <a:latin typeface="Noto Sans TC"/>
                          <a:ea typeface="Noto Sans TC"/>
                        </a:rPr>
                        <a:t>兩個分類軸之間的離散狀態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AF8F4"/>
                    </a:solidFill>
                  </a:tcPr>
                </a:tc>
              </a:tr>
              <a:tr h="63398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A443D"/>
                          </a:solidFill>
                          <a:latin typeface="Noto Sans TC"/>
                          <a:ea typeface="Noto Sans TC"/>
                        </a:rPr>
                        <a:t>分層清單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A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A443D"/>
                          </a:solidFill>
                          <a:latin typeface="Noto Sans TC"/>
                          <a:ea typeface="Noto Sans TC"/>
                        </a:rPr>
                        <a:t>分類下的項目與對應證據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AF8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