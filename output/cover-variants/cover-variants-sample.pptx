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57200"/>
            <a:ext cx="11057839" cy="0"/>
          </a:xfrm>
          <a:prstGeom prst="line">
            <a:avLst/>
          </a:prstGeom>
          <a:ln w="15875">
            <a:solidFill>
              <a:srgbClr val="1A17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603504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714"/>
                </a:solidFill>
                <a:latin typeface="Consolas"/>
                <a:ea typeface="Consolas"/>
              </a:rPr>
              <a:t>內部技術分享 / AI AGENTIC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38767" y="60350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01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AI AGENTIC CODING ·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59152"/>
            <a:ext cx="8595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400"/>
              </a:spcAft>
            </a:pPr>
            <a:r>
              <a:rPr sz="5600" b="1" i="0">
                <a:solidFill>
                  <a:srgbClr val="1A1714"/>
                </a:solidFill>
                <a:latin typeface="Noto Sans TC"/>
                <a:ea typeface="Noto Sans TC"/>
              </a:rPr>
              <a:t>從觀望
到全公司落地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4498848"/>
            <a:ext cx="1417320" cy="0"/>
          </a:xfrm>
          <a:prstGeom prst="line">
            <a:avLst/>
          </a:prstGeom>
          <a:ln w="38100">
            <a:solidFill>
              <a:srgbClr val="D75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4828032"/>
            <a:ext cx="85953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8A8177"/>
                </a:solidFill>
                <a:latin typeface="Noto Sans TC"/>
                <a:ea typeface="Noto Sans TC"/>
              </a:rPr>
              <a:t>兩年 AI Agentic Coding 導入實戰
流程整合與安全治理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062472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2453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714"/>
                </a:solidFill>
                <a:latin typeface="Consolas"/>
                <a:ea typeface="Consolas"/>
              </a:rPr>
              <a:t>appLeboy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8767" y="62453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57200"/>
            <a:ext cx="11057839" cy="0"/>
          </a:xfrm>
          <a:prstGeom prst="line">
            <a:avLst/>
          </a:prstGeom>
          <a:ln w="15875">
            <a:solidFill>
              <a:srgbClr val="F5F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603504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  <a:ea typeface="Consolas"/>
              </a:rPr>
              <a:t>雲端處 ITSM 開發團隊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38767" y="60350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2026 ·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2026 · PERFORMANCE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38528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5200" b="1" i="0">
                <a:solidFill>
                  <a:srgbClr val="F5F2EC"/>
                </a:solidFill>
                <a:latin typeface="Noto Sans TC"/>
                <a:ea typeface="Noto Sans TC"/>
              </a:rPr>
              <a:t>年度績效成果報告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3493008"/>
            <a:ext cx="1417320" cy="0"/>
          </a:xfrm>
          <a:prstGeom prst="line">
            <a:avLst/>
          </a:prstGeom>
          <a:ln w="38100">
            <a:solidFill>
              <a:srgbClr val="D75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370332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0">
                <a:solidFill>
                  <a:srgbClr val="8F877C"/>
                </a:solidFill>
                <a:latin typeface="Noto Sans TC"/>
                <a:ea typeface="Noto Sans TC"/>
              </a:rPr>
              <a:t>2026 上半年｜交付成果、架構治理與跨團隊協作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891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2EC"/>
                </a:solidFill>
                <a:latin typeface="Noto Sans TC"/>
                <a:ea typeface="Noto Sans TC"/>
              </a:rPr>
              <a:t>李相定</a:t>
            </a:r>
            <a:r>
              <a:rPr sz="1600" b="0" i="0">
                <a:solidFill>
                  <a:srgbClr val="8F877C"/>
                </a:solidFill>
                <a:latin typeface="Noto Sans TC"/>
                <a:ea typeface="Noto Sans TC"/>
              </a:rPr>
              <a:t>   |   </a:t>
            </a:r>
            <a:r>
              <a:rPr sz="1600" b="0" i="0">
                <a:solidFill>
                  <a:srgbClr val="8F877C"/>
                </a:solidFill>
                <a:latin typeface="Noto Sans TC"/>
                <a:ea typeface="Noto Sans TC"/>
              </a:rPr>
              <a:t>架構師助手 / ITSM 開發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4892040"/>
            <a:ext cx="11057839" cy="0"/>
          </a:xfrm>
          <a:prstGeom prst="line">
            <a:avLst/>
          </a:prstGeom>
          <a:ln w="12700">
            <a:solidFill>
              <a:srgbClr val="8F87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